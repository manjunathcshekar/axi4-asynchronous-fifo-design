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"/>
  </p:notesMasterIdLst>
  <p:handoutMasterIdLst>
    <p:handoutMasterId r:id="rId22"/>
  </p:handoutMasterIdLst>
  <p:sldIdLst>
    <p:sldId id="256" r:id="rId2"/>
    <p:sldId id="318" r:id="rId3"/>
    <p:sldId id="319" r:id="rId4"/>
    <p:sldId id="320" r:id="rId5"/>
    <p:sldId id="317" r:id="rId6"/>
    <p:sldId id="321" r:id="rId7"/>
    <p:sldId id="322" r:id="rId8"/>
    <p:sldId id="324" r:id="rId9"/>
    <p:sldId id="328" r:id="rId10"/>
    <p:sldId id="323" r:id="rId11"/>
    <p:sldId id="331" r:id="rId12"/>
    <p:sldId id="329" r:id="rId13"/>
    <p:sldId id="332" r:id="rId14"/>
    <p:sldId id="330" r:id="rId15"/>
    <p:sldId id="325" r:id="rId16"/>
    <p:sldId id="326" r:id="rId17"/>
    <p:sldId id="333" r:id="rId18"/>
    <p:sldId id="327" r:id="rId19"/>
    <p:sldId id="31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608" autoAdjust="0"/>
    <p:restoredTop sz="94660"/>
  </p:normalViewPr>
  <p:slideViewPr>
    <p:cSldViewPr snapToGrid="0">
      <p:cViewPr>
        <p:scale>
          <a:sx n="100" d="100"/>
          <a:sy n="100" d="100"/>
        </p:scale>
        <p:origin x="-427" y="-3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36660E4-7FA6-4A8A-9FD0-A38A6D6056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0B57958-CA2F-4BFE-9253-47043F75E6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67D01-8A76-4862-844A-5252E333A848}" type="datetimeFigureOut">
              <a:rPr lang="en-IN" smtClean="0"/>
              <a:pPr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2AF1A3E-45E2-4BC4-A967-10C2A26EC8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Dept. of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CD9C3C5-6E2A-4488-873C-EFA25B1B8B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F8237-8936-4B21-B732-F71E793CDE0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50605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3A3C3-28AA-4434-ACAB-C9A2260D184B}" type="datetimeFigureOut">
              <a:rPr lang="en-IN" smtClean="0"/>
              <a:pPr/>
              <a:t>09-01-2026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Dept. of ECE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696A9-2D74-4675-8CBB-A869D0628A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65732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1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32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911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99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34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51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68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IN"/>
              <a:t>20-10-2020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2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38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41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02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IN"/>
              <a:t>20-10-2020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755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992BADF-AA13-4A5B-ABF5-117B0AADB9C4}"/>
              </a:ext>
            </a:extLst>
          </p:cNvPr>
          <p:cNvSpPr txBox="1"/>
          <p:nvPr/>
        </p:nvSpPr>
        <p:spPr>
          <a:xfrm>
            <a:off x="2454050" y="417250"/>
            <a:ext cx="73491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4400" b="1" dirty="0">
              <a:solidFill>
                <a:srgbClr val="003399"/>
              </a:solidFill>
              <a:latin typeface="English111 Vivace BT" panose="03030702030607090B03" pitchFamily="66" charset="2"/>
            </a:endParaRP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&amp; Communication Engineering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400" b="1" dirty="0">
              <a:solidFill>
                <a:srgbClr val="003399"/>
              </a:solidFill>
              <a:latin typeface="English111 Vivace BT" panose="03030702030607090B03" pitchFamily="66" charset="2"/>
            </a:endParaRP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309A5A77-B564-4F0C-984C-7CEC06A7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291" y="398244"/>
            <a:ext cx="7219950" cy="7524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406E466-DDAD-4478-AB91-8F3792EF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200" dirty="0"/>
              <a:t>2025-26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17DAEF5-2170-4568-BA4B-287DBCBCE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813" y="6478791"/>
            <a:ext cx="4822804" cy="365125"/>
          </a:xfrm>
        </p:spPr>
        <p:txBody>
          <a:bodyPr/>
          <a:lstStyle/>
          <a:p>
            <a:r>
              <a:rPr lang="en-GB" sz="1200" dirty="0"/>
              <a:t>Dept of </a:t>
            </a:r>
            <a:r>
              <a:rPr lang="en-GB" sz="1200" dirty="0" err="1"/>
              <a:t>ece</a:t>
            </a:r>
            <a:r>
              <a:rPr lang="en-GB" sz="1200" dirty="0"/>
              <a:t>, </a:t>
            </a:r>
            <a:r>
              <a:rPr lang="en-GB" sz="1200" dirty="0" err="1"/>
              <a:t>bnmit</a:t>
            </a:r>
            <a:endParaRPr lang="en-IN" sz="12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C4BC8365-A24D-421F-A09B-356D93EC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z="1400" smtClean="0"/>
              <a:pPr/>
              <a:t>1</a:t>
            </a:fld>
            <a:endParaRPr lang="en-IN" sz="1400" dirty="0"/>
          </a:p>
        </p:txBody>
      </p:sp>
      <p:sp>
        <p:nvSpPr>
          <p:cNvPr id="11" name="Rectangle 10"/>
          <p:cNvSpPr/>
          <p:nvPr/>
        </p:nvSpPr>
        <p:spPr>
          <a:xfrm>
            <a:off x="2809215" y="1829518"/>
            <a:ext cx="6096000" cy="42011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Phase2 (22ECP183)</a:t>
            </a:r>
          </a:p>
          <a:p>
            <a:pPr algn="ctr"/>
            <a:endParaRPr lang="en-GB" b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000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AXI4 ASYNCHRONOUS FIFO: DESIN AND VERIFICATION USING UVM</a:t>
            </a:r>
            <a:endParaRPr lang="en-GB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1700">
                <a:latin typeface="Times New Roman" panose="02020603050405020304" pitchFamily="18" charset="0"/>
                <a:cs typeface="Times New Roman" panose="02020603050405020304" pitchFamily="18" charset="0"/>
              </a:rPr>
              <a:t>Batch No: A16</a:t>
            </a:r>
          </a:p>
          <a:p>
            <a:pPr algn="ctr"/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Bhavana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 H  </a:t>
            </a:r>
            <a:r>
              <a:rPr lang="en-IN" b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(1BG22EC020)</a:t>
            </a:r>
            <a:endParaRPr lang="en-IN" b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Manjunath C Shekar (1BG22EC051)</a:t>
            </a:r>
          </a:p>
          <a:p>
            <a:r>
              <a:rPr lang="en-IN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  Suhani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 Basti  </a:t>
            </a:r>
            <a:r>
              <a:rPr lang="en-IN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(1BG22EC124)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IN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Dr.Smitha </a:t>
            </a:r>
            <a:r>
              <a:rPr lang="en-US" alt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Gayathri </a:t>
            </a:r>
            <a:r>
              <a:rPr lang="en-US" altLang="en-IN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</a:p>
          <a:p>
            <a:pPr algn="ctr"/>
            <a:r>
              <a:rPr lang="en-US" altLang="en-IN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 </a:t>
            </a:r>
            <a:r>
              <a:rPr lang="en-US" altLang="en-IN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BNMIT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7162FB53-437C-1172-36DE-DB35765E6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61" y="398244"/>
            <a:ext cx="1667510" cy="1295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551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buFont typeface="Arial" panose="020B0604020202020204" pitchFamily="34" charset="0"/>
              <a:buChar char="•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verify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 AXI asynchronous FIFO to enable reliable data transfer across independent clock domains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CDC synchronization, FIFO buffering, and interrupt handling to support high-throughput, low-latency communication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Phase-1 focused on validating the core asynchronous FIFO functionality at the DUT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Phase-2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verifying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DUT using a UVM-based testbench with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testcases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focusing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 back-to-back AXI transactions and FIFO boundary conditions such as full and empty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states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Focusing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 stress and corner-case verification to improve coverage and ensure readiness for high-speed SoC integration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42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Modern SoC designs frequently operate with multiple clock domains, making reliable data transfer across asynchronous boundaries a critical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AXI4-Lite is widely used for control and low-bandwidth communication, requiring robust FIFO-based buffering to handle clock domain differences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safely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of asynchronous designs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complex,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adopting a UVM-based methodology improves reusability, scalability, and confidence in functional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Ensuring correct FIFO boundary behavior and back-to-back transactions is essential to prevent data loss, protocol violations, and system-level failures.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077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marR="296545" indent="-342900" algn="ctr">
              <a:lnSpc>
                <a:spcPct val="150000"/>
              </a:lnSpc>
              <a:spcBef>
                <a:spcPts val="300"/>
              </a:spcBef>
            </a:pPr>
            <a:r>
              <a:rPr lang="en-US" kern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OBJECTIVES</a:t>
            </a:r>
            <a:endParaRPr lang="en-US" kern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Design a parameterized AXI4-Lite asynchronous FIFO to enable reliable data transfer across multiple clock domains while maintaining AXI4-Lite protocol compliance.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verify interrupt support in the DUT to notify the processor on FIFO events such as full, empty, and data availability.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design to include a configurable FIFO, allowing programmable depth and threshold levels for flexible SoC integration.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Develop a UVM-based verification environment using directed and constrained-random test scenarios across different clock ratios and backpressure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design using assertion-based verification and functional coverage, ensuring data integrity, correct interrupt behavior, and no protocol violations.</a:t>
            </a:r>
          </a:p>
          <a:p>
            <a:pPr marL="0" indent="0">
              <a:buNone/>
            </a:pP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20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6E332B0-C15A-9251-A9C0-FDAD4FF53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900" dirty="0"/>
              <a:t>2025-26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CE4FA34-45BF-C58E-D7D5-C47F7BD7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ECE-BNMIT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045AC45-F870-6213-4718-F1B80610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5</a:t>
            </a:fld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CA8464A4-00DA-86E9-A3B0-9AC138B27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21924"/>
              </p:ext>
            </p:extLst>
          </p:nvPr>
        </p:nvGraphicFramePr>
        <p:xfrm>
          <a:off x="280655" y="1070907"/>
          <a:ext cx="11642760" cy="4150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460">
                  <a:extLst>
                    <a:ext uri="{9D8B030D-6E8A-4147-A177-3AD203B41FA5}">
                      <a16:colId xmlns:a16="http://schemas.microsoft.com/office/drawing/2014/main" xmlns="" val="3673715164"/>
                    </a:ext>
                  </a:extLst>
                </a:gridCol>
                <a:gridCol w="1527020">
                  <a:extLst>
                    <a:ext uri="{9D8B030D-6E8A-4147-A177-3AD203B41FA5}">
                      <a16:colId xmlns:a16="http://schemas.microsoft.com/office/drawing/2014/main" xmlns="" val="2298367080"/>
                    </a:ext>
                  </a:extLst>
                </a:gridCol>
                <a:gridCol w="2136617">
                  <a:extLst>
                    <a:ext uri="{9D8B030D-6E8A-4147-A177-3AD203B41FA5}">
                      <a16:colId xmlns:a16="http://schemas.microsoft.com/office/drawing/2014/main" xmlns="" val="4030916983"/>
                    </a:ext>
                  </a:extLst>
                </a:gridCol>
                <a:gridCol w="1195058">
                  <a:extLst>
                    <a:ext uri="{9D8B030D-6E8A-4147-A177-3AD203B41FA5}">
                      <a16:colId xmlns:a16="http://schemas.microsoft.com/office/drawing/2014/main" xmlns="" val="314014832"/>
                    </a:ext>
                  </a:extLst>
                </a:gridCol>
                <a:gridCol w="2903145">
                  <a:extLst>
                    <a:ext uri="{9D8B030D-6E8A-4147-A177-3AD203B41FA5}">
                      <a16:colId xmlns:a16="http://schemas.microsoft.com/office/drawing/2014/main" xmlns="" val="3177178921"/>
                    </a:ext>
                  </a:extLst>
                </a:gridCol>
                <a:gridCol w="1940460">
                  <a:extLst>
                    <a:ext uri="{9D8B030D-6E8A-4147-A177-3AD203B41FA5}">
                      <a16:colId xmlns:a16="http://schemas.microsoft.com/office/drawing/2014/main" xmlns="" val="95210051"/>
                    </a:ext>
                  </a:extLst>
                </a:gridCol>
              </a:tblGrid>
              <a:tr h="132139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Journal/ conference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Findings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Points for future scope from the paper (if any)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45158659"/>
                  </a:ext>
                </a:extLst>
              </a:tr>
              <a:tr h="151412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Study of Advances in Asynchronous FIFO Design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authors (ResearchGate publication)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ResearchGate / Journal preprint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Presents recent improvements in asynchronous FIFO architectures, focusing on Gray code pointer synchronization, metastability mitigation, and efficient full/empty detection techniques.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Suggests exploring low-power FIFO designs and integrating formal verification techniques for CDC validation.</a:t>
                      </a:r>
                    </a:p>
                  </a:txBody>
                  <a:tcPr anchor="ctr"/>
                </a:tc>
              </a:tr>
              <a:tr h="131489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of Asynchronous FIFO in High-Speed Interface Data Transmission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Zhang et al.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Conference on Mechanical, Electrical and Electronics Engineering (ICMEEE)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the effectiveness of asynchronous FIFOs in high-speed data interfaces, emphasizing reduced data loss and improved reliability across clock domains.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Recommends extending the design to AXI-based interfaces and validating under burst and stress traffic conditions.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9923467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946788" y="466185"/>
            <a:ext cx="21517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8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CA8464A4-00DA-86E9-A3B0-9AC138B27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421584"/>
              </p:ext>
            </p:extLst>
          </p:nvPr>
        </p:nvGraphicFramePr>
        <p:xfrm>
          <a:off x="244441" y="226338"/>
          <a:ext cx="11715186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531">
                  <a:extLst>
                    <a:ext uri="{9D8B030D-6E8A-4147-A177-3AD203B41FA5}">
                      <a16:colId xmlns:a16="http://schemas.microsoft.com/office/drawing/2014/main" xmlns="" val="3673715164"/>
                    </a:ext>
                  </a:extLst>
                </a:gridCol>
                <a:gridCol w="1952531">
                  <a:extLst>
                    <a:ext uri="{9D8B030D-6E8A-4147-A177-3AD203B41FA5}">
                      <a16:colId xmlns:a16="http://schemas.microsoft.com/office/drawing/2014/main" xmlns="" val="2298367080"/>
                    </a:ext>
                  </a:extLst>
                </a:gridCol>
                <a:gridCol w="1554180">
                  <a:extLst>
                    <a:ext uri="{9D8B030D-6E8A-4147-A177-3AD203B41FA5}">
                      <a16:colId xmlns:a16="http://schemas.microsoft.com/office/drawing/2014/main" xmlns="" val="4030916983"/>
                    </a:ext>
                  </a:extLst>
                </a:gridCol>
                <a:gridCol w="1204111">
                  <a:extLst>
                    <a:ext uri="{9D8B030D-6E8A-4147-A177-3AD203B41FA5}">
                      <a16:colId xmlns:a16="http://schemas.microsoft.com/office/drawing/2014/main" xmlns="" val="314014832"/>
                    </a:ext>
                  </a:extLst>
                </a:gridCol>
                <a:gridCol w="3099302">
                  <a:extLst>
                    <a:ext uri="{9D8B030D-6E8A-4147-A177-3AD203B41FA5}">
                      <a16:colId xmlns:a16="http://schemas.microsoft.com/office/drawing/2014/main" xmlns="" val="3177178921"/>
                    </a:ext>
                  </a:extLst>
                </a:gridCol>
                <a:gridCol w="1952531">
                  <a:extLst>
                    <a:ext uri="{9D8B030D-6E8A-4147-A177-3AD203B41FA5}">
                      <a16:colId xmlns:a16="http://schemas.microsoft.com/office/drawing/2014/main" xmlns="" val="95210051"/>
                    </a:ext>
                  </a:extLst>
                </a:gridCol>
              </a:tblGrid>
              <a:tr h="606581"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Journal/ conference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Findings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Points for future scope from the paper (if any)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45158659"/>
                  </a:ext>
                </a:extLst>
              </a:tr>
              <a:tr h="101398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 of Asynchronous FIFO Design Difficulties Using Verilog HDL</a:t>
                      </a:r>
                    </a:p>
                  </a:txBody>
                  <a:tcPr marR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Wang, H. Chen</a:t>
                      </a:r>
                    </a:p>
                  </a:txBody>
                  <a:tcPr marR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Hardware and Embedded Systems Technology</a:t>
                      </a:r>
                    </a:p>
                  </a:txBody>
                  <a:tcPr marR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Analyzes common design challenges in asynchronous FIFOs and proposes Verilog-based solutions for synchronization and flag generation with simulation validation.</a:t>
                      </a:r>
                    </a:p>
                  </a:txBody>
                  <a:tcPr marR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 includes improving scalability and applying coverage-driven verification methodologies.</a:t>
                      </a:r>
                    </a:p>
                  </a:txBody>
                  <a:tcPr/>
                </a:tc>
              </a:tr>
              <a:tr h="109546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Implementation of Asynchronous FIFO</a:t>
                      </a:r>
                    </a:p>
                  </a:txBody>
                  <a:tcPr marR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Kumar, S. Patel</a:t>
                      </a:r>
                    </a:p>
                  </a:txBody>
                  <a:tcPr marR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VLSI Design and Communication Systems</a:t>
                      </a:r>
                    </a:p>
                  </a:txBody>
                  <a:tcPr marR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Describes RTL-level design and implementation of an asynchronous FIFO, highlighting CDC synchronization and reliability under different clock ratios.</a:t>
                      </a:r>
                    </a:p>
                  </a:txBody>
                  <a:tcPr marR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Suggests integrating the FIFO with standard bus protocols such as AXI and performing advanced verification.</a:t>
                      </a:r>
                    </a:p>
                  </a:txBody>
                  <a:tcPr/>
                </a:tc>
              </a:tr>
              <a:tr h="138784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Coverage Driven Verification of FIFO Using UVM</a:t>
                      </a:r>
                    </a:p>
                  </a:txBody>
                  <a:tcPr marR="182880" marB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Sharma, P. Verma</a:t>
                      </a:r>
                    </a:p>
                  </a:txBody>
                  <a:tcPr marR="182880" marB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 Journals – International Journal of Electronics &amp; Communication</a:t>
                      </a:r>
                    </a:p>
                  </a:txBody>
                  <a:tcPr marR="182880" marB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R="182880" marB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UVM-based verification of FIFO designs using constrained-random testing and functional coverage to detect corner-case bugs.</a:t>
                      </a:r>
                    </a:p>
                  </a:txBody>
                  <a:tcPr marR="182880" marB="18288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extending the approach to asynchronous FIFOs and adding stress and back-to-back transaction testcases.</a:t>
                      </a:r>
                    </a:p>
                  </a:txBody>
                  <a:tcPr marB="182880"/>
                </a:tc>
                <a:extLst>
                  <a:ext uri="{0D108BD9-81ED-4DB2-BD59-A6C34878D82A}">
                    <a16:rowId xmlns:a16="http://schemas.microsoft.com/office/drawing/2014/main" xmlns="" val="399234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86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SystemVerilog + UVM 1.1d: Used to develop the RTL design and implement a structured, reusable UVM-based verification environment with constrained-random testing, functional coverage, and scoreboard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checking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QuestaSim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(v10.7c or later): Used for compiling, simulating, and debugging the AXI asynchronous FIFO design and UVM testbench, including waveform analysis and protocol-level verification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7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285" y="400903"/>
            <a:ext cx="10058400" cy="145075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</a:t>
            </a:r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b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50" y="1307447"/>
            <a:ext cx="3829469" cy="41013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19611" y="5888822"/>
            <a:ext cx="5926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1: Block Diagram of AXI4 Lite Assynchronous FIFO</a:t>
            </a: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89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UVM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20" y="1996587"/>
            <a:ext cx="3231942" cy="409648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460470" y="1929761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UVM provides a modular and reusable testbench architecture, separating verification components from the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DUT</a:t>
            </a:r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Stimulus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generated using sequences and sequence items, which are converted to pin-level signals by the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observe DUT behavior and send transactions to the scoreboard for correctness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checking</a:t>
            </a:r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Scoreboard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and assertions ensure functional correctness, protocol compliance, and data integrity.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029131"/>
            <a:ext cx="28328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3: UVM Architechture</a:t>
            </a: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863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41" y="1836948"/>
            <a:ext cx="5891688" cy="40379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32028" y="1901229"/>
            <a:ext cx="45236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RTL design and UVM testbench are compiled and simulated to verify basic functionality.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Functional correctness is checked using sequences, driver, monitor, and scoreboard, with debugging if failures occur.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Stress and corner-case scenarios are applied to ensure robustness and protocol compliance, followed by generation of the verification report.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78369" y="5874890"/>
            <a:ext cx="26201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2 : Flowchart of UVM</a:t>
            </a: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69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939" y="659423"/>
            <a:ext cx="6858000" cy="47566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61085" y="5547946"/>
            <a:ext cx="32531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5: UVM Report</a:t>
            </a: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608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083" y="315385"/>
            <a:ext cx="10058400" cy="1450757"/>
          </a:xfrm>
        </p:spPr>
        <p:txBody>
          <a:bodyPr/>
          <a:lstStyle/>
          <a:p>
            <a:pPr algn="ctr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b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228" y="1201514"/>
            <a:ext cx="6150109" cy="2279384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228" y="3480898"/>
            <a:ext cx="6164848" cy="2361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84177" y="6070920"/>
            <a:ext cx="313006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4: Waveforms</a:t>
            </a: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352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768" y="3312321"/>
            <a:ext cx="8092952" cy="24713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768" y="0"/>
            <a:ext cx="7522265" cy="36048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7366" y="5782046"/>
            <a:ext cx="339162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6: Transcript Logs</a:t>
            </a: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253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94592" y="729761"/>
            <a:ext cx="10920046" cy="3759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waveform confirms correct AXI4-Lite read and write transactions with proper VALID–READY handshaking.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 write and read pointers increment correctly, demonstrating reliable data buffering across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Gray-coded pointers are used internally, ensuring safe pointer synchronization and preventing metastability.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 full and empty flags assert and deassert at the correct times, avoiding overflow and underflow.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written through the AXI interface is accurately read back, proving data integrity.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 signals trigger correctly based on FIFO status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results validate the functional correctness and robustness of the AXI4-Lite FIFO design.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00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kern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CONCLUSION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AXI4-Lite asynchronous FIFO design was functionally verified using directed and UVM-based testcases, confirming correct read and write operations across different clock domains.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FIFO boundary conditions were validated through dedicated FIFO full and FIFO empty testcases, ensuring safe handling of overflow and underflow scenarios.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Random transaction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testcases demonstrated reliable data transfer without loss under consecutive AXI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Interrupt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 was successfully verified, confirming correct event signaling from the DUT under defined FIFO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26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kern="0">
                <a:latin typeface="Times New Roman" panose="02020603050405020304" pitchFamily="18" charset="0"/>
                <a:ea typeface="Times New Roman" panose="02020603050405020304" pitchFamily="18" charset="0"/>
              </a:rPr>
              <a:t>FUTURE SCOPE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Introduce constrained-random and stress test scenarios to validate robustness under heavy and concurrent traffic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to support multi-master and multi-slave configurations, enabling arbitration, address decoding, and scalable interconnect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aking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FIFO programmable in depth and threshold levels, allowing dynamic configuration of full/empty and interrupt trigger conditions to support different system requirements.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063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826477" y="1090246"/>
            <a:ext cx="1056835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Complete source code, testbench, and verification environment for the AXI4-Lite FIFO design are available on GitHub for reference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reproducibility.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://github.com/manjunathcshekar/AXI4-ASYNCHRONOUS-FIFO-DESIGN.git</a:t>
            </a:r>
          </a:p>
        </p:txBody>
      </p:sp>
    </p:spTree>
    <p:extLst>
      <p:ext uri="{BB962C8B-B14F-4D97-AF65-F5344CB8AC3E}">
        <p14:creationId xmlns:p14="http://schemas.microsoft.com/office/powerpoint/2010/main" val="2963569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kern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REFERENCES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[1]. Jingwei Cai, Xuan Wang, “SoMa: Understanding the DRAM Communication Scheduling Space for DNN Accelerators,” arXiv preprint, 2025.</a:t>
            </a:r>
            <a:b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[2]. Vijay Patel, Vimal Mer, “A Study of Advances in Asynchronous FIFO Design,” International Journal of Scientific Research in Engineering and Management (USREM), 2024.</a:t>
            </a:r>
            <a:b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[3]. S. Harutyunyan, T. Kaplanyan, A. Kirakosyan, A. Momiyan, “Design and Verification of Autoconfigurable UART Controller with FIFO Function,” 2020 IEEE 40th International Conference on Electronics and Nanotechnology (ELNANO), 2023.</a:t>
            </a:r>
            <a:b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[4]. Mingji Wang, “Design and Implementation of Asynchronous FIFO,” Proceedings of the 2nd International Conference on Functional Materials, 2022.</a:t>
            </a:r>
            <a:b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[5]. Vinoth Nagarajan, “The Design and Verification of a Synchronous First-In First-Out (FIFO) Module Using SystemVerilog Based Universal Verification Methodology (UVM),” Master’s Thesis, Rochester Institute of Technology, USA, 2022.</a:t>
            </a:r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mtClean="0"/>
              <a:t>20-10-2020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ECE-BNMIT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900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3">
            <a:extLst>
              <a:ext uri="{FF2B5EF4-FFF2-40B4-BE49-F238E27FC236}">
                <a16:creationId xmlns:a16="http://schemas.microsoft.com/office/drawing/2014/main" xmlns="" id="{FF2A9297-83D2-4458-B3F7-13726EF5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152" y="2568306"/>
            <a:ext cx="11143696" cy="3871738"/>
          </a:xfrm>
        </p:spPr>
        <p:txBody>
          <a:bodyPr>
            <a:noAutofit/>
          </a:bodyPr>
          <a:lstStyle/>
          <a:p>
            <a:pPr algn="ctr"/>
            <a:r>
              <a:rPr lang="en-IN" sz="10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r>
              <a:rPr lang="en-IN" sz="13000" dirty="0"/>
              <a:t/>
            </a:r>
            <a:br>
              <a:rPr lang="en-IN" sz="13000" dirty="0"/>
            </a:br>
            <a:endParaRPr lang="en-IN" sz="13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6A26580-6208-4D80-B8B3-1D07E0A1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900" dirty="0"/>
              <a:t>2025-26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9BE6FC0-4920-43CC-8562-9617D358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406" y="6492875"/>
            <a:ext cx="4822804" cy="365125"/>
          </a:xfrm>
        </p:spPr>
        <p:txBody>
          <a:bodyPr/>
          <a:lstStyle/>
          <a:p>
            <a:r>
              <a:rPr lang="en-US" smtClean="0"/>
              <a:t>ECE-BNMIT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518DB99-B8F3-4D24-918F-F328F9D3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97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7377</TotalTime>
  <Words>893</Words>
  <Application>Microsoft Office PowerPoint</Application>
  <PresentationFormat>Widescreen</PresentationFormat>
  <Paragraphs>176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English111 Vivace BT</vt:lpstr>
      <vt:lpstr>Times New Roman</vt:lpstr>
      <vt:lpstr>Retrospect</vt:lpstr>
      <vt:lpstr>PowerPoint Presentation</vt:lpstr>
      <vt:lpstr>INTRODUCTION</vt:lpstr>
      <vt:lpstr>MOTIVATION</vt:lpstr>
      <vt:lpstr>OBJECTIVES</vt:lpstr>
      <vt:lpstr>PowerPoint Presentation</vt:lpstr>
      <vt:lpstr>PowerPoint Presentation</vt:lpstr>
      <vt:lpstr>Software Requirements</vt:lpstr>
      <vt:lpstr>BLOCK DIAGRAM  </vt:lpstr>
      <vt:lpstr>UVM</vt:lpstr>
      <vt:lpstr>FLOWCHART</vt:lpstr>
      <vt:lpstr>PowerPoint Presentation</vt:lpstr>
      <vt:lpstr>RESULTS </vt:lpstr>
      <vt:lpstr>PowerPoint Presentation</vt:lpstr>
      <vt:lpstr>PowerPoint Presentation</vt:lpstr>
      <vt:lpstr>CONCLUSION</vt:lpstr>
      <vt:lpstr>FUTURE SCOPE</vt:lpstr>
      <vt:lpstr>PowerPoint Presentation</vt:lpstr>
      <vt:lpstr>REFERENCES</vt:lpstr>
      <vt:lpstr>Thank you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Stree Raksha: Safety Gadget for Women</dc:title>
  <dc:creator>Inchara</dc:creator>
  <cp:lastModifiedBy>Microsoft account</cp:lastModifiedBy>
  <cp:revision>263</cp:revision>
  <dcterms:created xsi:type="dcterms:W3CDTF">2019-09-10T08:19:56Z</dcterms:created>
  <dcterms:modified xsi:type="dcterms:W3CDTF">2026-01-12T05:10:02Z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de70ee2-0cb4-4d60-aee5-75ef2c4c8a90_Enabled">
    <vt:lpwstr>True</vt:lpwstr>
  </property>
  <property fmtid="{D5CDD505-2E9C-101B-9397-08002B2CF9AE}" pid="3" name="MSIP_Label_7de70ee2-0cb4-4d60-aee5-75ef2c4c8a90_SiteId">
    <vt:lpwstr>945c199a-83a2-4e80-9f8c-5a91be5752dd</vt:lpwstr>
  </property>
  <property fmtid="{D5CDD505-2E9C-101B-9397-08002B2CF9AE}" pid="4" name="MSIP_Label_7de70ee2-0cb4-4d60-aee5-75ef2c4c8a90_Owner">
    <vt:lpwstr>Alankritha_T_v@Dell.com</vt:lpwstr>
  </property>
  <property fmtid="{D5CDD505-2E9C-101B-9397-08002B2CF9AE}" pid="5" name="MSIP_Label_7de70ee2-0cb4-4d60-aee5-75ef2c4c8a90_SetDate">
    <vt:lpwstr>2020-04-22T05:12:00.1932508Z</vt:lpwstr>
  </property>
  <property fmtid="{D5CDD505-2E9C-101B-9397-08002B2CF9AE}" pid="6" name="MSIP_Label_7de70ee2-0cb4-4d60-aee5-75ef2c4c8a90_Name">
    <vt:lpwstr>Internal Use</vt:lpwstr>
  </property>
  <property fmtid="{D5CDD505-2E9C-101B-9397-08002B2CF9AE}" pid="7" name="MSIP_Label_7de70ee2-0cb4-4d60-aee5-75ef2c4c8a90_Application">
    <vt:lpwstr>Microsoft Azure Information Protection</vt:lpwstr>
  </property>
  <property fmtid="{D5CDD505-2E9C-101B-9397-08002B2CF9AE}" pid="8" name="MSIP_Label_7de70ee2-0cb4-4d60-aee5-75ef2c4c8a90_Extended_MSFT_Method">
    <vt:lpwstr>Manual</vt:lpwstr>
  </property>
  <property fmtid="{D5CDD505-2E9C-101B-9397-08002B2CF9AE}" pid="9" name="MSIP_Label_c6e0e3e8-8921-4906-b77b-3374d4e05132_Enabled">
    <vt:lpwstr>True</vt:lpwstr>
  </property>
  <property fmtid="{D5CDD505-2E9C-101B-9397-08002B2CF9AE}" pid="10" name="MSIP_Label_c6e0e3e8-8921-4906-b77b-3374d4e05132_SiteId">
    <vt:lpwstr>945c199a-83a2-4e80-9f8c-5a91be5752dd</vt:lpwstr>
  </property>
  <property fmtid="{D5CDD505-2E9C-101B-9397-08002B2CF9AE}" pid="11" name="MSIP_Label_c6e0e3e8-8921-4906-b77b-3374d4e05132_Owner">
    <vt:lpwstr>Alankritha_T_v@Dell.com</vt:lpwstr>
  </property>
  <property fmtid="{D5CDD505-2E9C-101B-9397-08002B2CF9AE}" pid="12" name="MSIP_Label_c6e0e3e8-8921-4906-b77b-3374d4e05132_SetDate">
    <vt:lpwstr>2020-04-22T05:12:00.1932508Z</vt:lpwstr>
  </property>
  <property fmtid="{D5CDD505-2E9C-101B-9397-08002B2CF9AE}" pid="13" name="MSIP_Label_c6e0e3e8-8921-4906-b77b-3374d4e05132_Name">
    <vt:lpwstr>No Visual Marking</vt:lpwstr>
  </property>
  <property fmtid="{D5CDD505-2E9C-101B-9397-08002B2CF9AE}" pid="14" name="MSIP_Label_c6e0e3e8-8921-4906-b77b-3374d4e05132_Application">
    <vt:lpwstr>Microsoft Azure Information Protection</vt:lpwstr>
  </property>
  <property fmtid="{D5CDD505-2E9C-101B-9397-08002B2CF9AE}" pid="15" name="MSIP_Label_c6e0e3e8-8921-4906-b77b-3374d4e05132_Parent">
    <vt:lpwstr>7de70ee2-0cb4-4d60-aee5-75ef2c4c8a90</vt:lpwstr>
  </property>
  <property fmtid="{D5CDD505-2E9C-101B-9397-08002B2CF9AE}" pid="16" name="MSIP_Label_c6e0e3e8-8921-4906-b77b-3374d4e05132_Extended_MSFT_Method">
    <vt:lpwstr>Manual</vt:lpwstr>
  </property>
  <property fmtid="{D5CDD505-2E9C-101B-9397-08002B2CF9AE}" pid="17" name="aiplabel">
    <vt:lpwstr>Internal Use No Visual Marking</vt:lpwstr>
  </property>
</Properties>
</file>